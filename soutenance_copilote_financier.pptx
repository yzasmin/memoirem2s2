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Reprise de données, reporting et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aide à la décision — Groupe Angelotti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de Master MIASHS — Yasmina Saoud, alternance Groupe Angelotti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1280160" cy="0"/>
          </a:xfrm>
          <a:prstGeom prst="line">
            <a:avLst/>
          </a:prstGeom>
          <a:noFill/>
          <a:ln w="38100">
            <a:solidFill>
              <a:srgbClr val="2A78D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 Angelotti et la migration des opérations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583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Promoteur-aménageur, filiale Nexity — deux métiers, promotion et aménagement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de l'année : l'ERP Grimmo remplacé par SPO — un changement de modèle de données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283 opérations à recréer : automatisation par API, validation par paliers (3 pilotes → 12 → masse), déploiement en « coquilles vides 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87768" y="1664208"/>
            <a:ext cx="4398264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3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60920" y="1737360"/>
            <a:ext cx="4251960" cy="1591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60920" y="336499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La séquence d'injection imposée par l'intégrité référentielle de l'ERP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" y="4965192"/>
            <a:ext cx="3346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283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58368" y="568756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créées dans SPO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reprise des tiers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1 602 lignes de coordonnées (CRM) à confronter à ~13 000 tiers déjà présents dans SPO</a:t>
            </a:r>
            <a:endParaRPr lang="en-US" sz="1450" dirty="0"/>
          </a:p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du dispositif : trois clés d'unicité différenciées (couple / personne physique / personne morale)</a:t>
            </a:r>
            <a:endParaRPr lang="en-US" sz="1450" dirty="0"/>
          </a:p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872 requêtes API pour les coordonnées des couples — toutes passées sans erreur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013448" y="1664208"/>
            <a:ext cx="4672584" cy="1856232"/>
          </a:xfrm>
          <a:prstGeom prst="roundRect">
            <a:avLst>
              <a:gd name="adj" fmla="val 2956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8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737360"/>
            <a:ext cx="4526280" cy="17099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09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" y="4782312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1 434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58368" y="5687568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créés, zéro doublon détecté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51960" y="4709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361688" y="4782312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881 / 462 / 91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361688" y="5687568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/ personnes physiques / sociétés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955280" y="4709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065008" y="4782312"/>
            <a:ext cx="3392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872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8065008" y="5687568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API, toutes passées sans erreur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28600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reprises répondent à une question :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donnée est-elle bien arrivée 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374904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socle reconstitué permet de se poser une question différente :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peut-on en tirer pour la décision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  —  70 % DE CETTE SOUTENANCE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2 — LE COPILOTE FINANCIER (≈70 %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Contexte, données et méthode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direction financière suit ses dérives opération par opération, sur tableurs, sans vision transverse.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1488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métier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Famille de modèles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Risque de marge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Quelles opérations dérapent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Régression, classification (6 méthodes)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Vitesse d'écoulement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Combien de réservations par mois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Effets aléatoires (panel), ARIMA, logistique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A3A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Optimisation de prix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 prix pour quel lot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hédonique, optimisation (Lagrange)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DA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Transverse — signaux faibles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Texte et réseau de vente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TF-IDF, Naive Bayes, graphe biparti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836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5836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réelles mobilisées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0740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40740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 d'analyse exécutés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04672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15644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15644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 de méthodes différentes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transversal : sur un échantillon restreint, un résultat n'est retenu que s'il tient en validation croisée — jamais sur sa seule performance d'ajustement.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AVANT DE MODÉLISER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 des données : deux leçons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au m² très asymétrique → quasi normal après log-transformation → l'axe C modélise le log-prix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 repéré : la corrélation brute réservations / taux de crédit est quasi nulle — la croissance du portefeuille maquille la relation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Corrigée par opération active, la corrélation redevient nette et négative — cette correction structure toute la démarche de l'axe B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" y="3447288"/>
            <a:ext cx="5678424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6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520440"/>
            <a:ext cx="5532120" cy="2651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81928" y="3447288"/>
            <a:ext cx="5404104" cy="1746504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8" name="Image 1" descr="/tmp/claude-0/-home-user-MemoireM2S2/bac073a6-7c4e-552a-9627-815aeb6fe82a/scratchpad/figs/p26-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3520440"/>
            <a:ext cx="5257800" cy="1600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2362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Prix au m², brut puis log-transformé (asymétrie corrigée)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355080" y="5193792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Intensité de vente : l'effet des taux apparaît une fois l'effet de portefeuille neutralisé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risque de marge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opérations suffisamment avancées : 28 % en dérive matérielle (&gt; 2 %)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du taux de dérive : R² test = 0,08 → bascule en classification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(analyse en composantes principales) : 2 axes résument 61 % de la structure des coûts, vérifiée par SVD → typologie de 4 familles, comparateur d'opérations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013448" y="1618488"/>
            <a:ext cx="4672584" cy="1655064"/>
          </a:xfrm>
          <a:prstGeom prst="roundRect">
            <a:avLst>
              <a:gd name="adj" fmla="val 331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7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691640"/>
            <a:ext cx="4526280" cy="1508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22783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Distribution de la variation de marge, seuil de dérive matérielle à −2 %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3977640"/>
            <a:ext cx="11064240" cy="384048"/>
          </a:xfrm>
          <a:prstGeom prst="roundRect">
            <a:avLst>
              <a:gd name="adj" fmla="val 14286"/>
            </a:avLst>
          </a:prstGeom>
          <a:solidFill>
            <a:srgbClr val="1A1A19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3977640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six méthodes en validation croisée — métrique F1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777240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linéaire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RBF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Forêt (retenue)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(train / CV)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0,913 / 0,262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3035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MLP illustre le sur-apprentissage : F1 = 0,91 en apprentissage contre 0,26 en validation — la signature d'un petit échantillon.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réel mais faible — pas un oracle.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vitesse d'écoulement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3 230 observations (opération × mois) — modèle à effets aléatoires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de la variance = effet propre à l'opération, 1/3 = conjoncture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par série temporelle : effet du taux non identifiable isolément — validation méthodologique, pas un échec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13448" y="1618488"/>
            <a:ext cx="4672584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8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691640"/>
            <a:ext cx="4526280" cy="18105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529584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Scénarios de taux 2026 : trajectoire ARIMA combinée à l'élasticité du panel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086600" y="425196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96328" y="4325112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−19 %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196328" y="5230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réservations par point de taux en plus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464040" y="425196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73768" y="4325112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mois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573768" y="5230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médian pour 90 % du potentiel vendu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48640" y="58521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le plus solide du projet.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L'optimisation des prix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492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hédonique sur 5 064 appartements vendus depuis 2016 — primes cohérentes (étage +6,0 %, sud +2,6 %, social −62,8 %)</a:t>
            </a:r>
            <a:endParaRPr lang="en-US" sz="137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Élasticité non significative en interne (p = 0,57) → fixée prudemment à −1, documentée plutôt que masquée</a:t>
            </a:r>
            <a:endParaRPr lang="en-US" sz="137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par multiplicateur de Lagrange, vérifiée par un second solveur indépendant (SLSQP) — convergence à 0,006 près</a:t>
            </a:r>
            <a:endParaRPr lang="en-US" sz="137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contre-intuitif : remise optimale identique en euros sur tous les lots — donc un % plus fort sur les petits lots</a:t>
            </a:r>
            <a:endParaRPr lang="en-US" sz="1370" dirty="0"/>
          </a:p>
        </p:txBody>
      </p:sp>
      <p:sp>
        <p:nvSpPr>
          <p:cNvPr id="5" name="Shape 3"/>
          <p:cNvSpPr/>
          <p:nvPr/>
        </p:nvSpPr>
        <p:spPr>
          <a:xfrm>
            <a:off x="7315200" y="169164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24928" y="176479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0,886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424928" y="262432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du prix expliquée, erreur type ≈ 11 %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0" y="324612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24928" y="331927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/ 127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424928" y="41788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lots du stock signalés hors marché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0" y="480060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24928" y="487375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424928" y="573328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entre les deux solveurs d'optimisation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TRANSVERSE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Signaux faibles : texte et réseau de vente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5836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3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9 688 commentaires libres de vente : moteur de recherche par similarité (TF-IDF + cosinus)</a:t>
            </a:r>
            <a:endParaRPr lang="en-US" sz="1370" dirty="0"/>
          </a:p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3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désistement par le texte, fuite contrôlée (314 commentaires écartés) : Naive Bayes F1 = 0,343, préféré à une régression logistique quasi muette</a:t>
            </a:r>
            <a:endParaRPr lang="en-US" sz="1370" dirty="0"/>
          </a:p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3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Divergence de Kullback-Leibler (écart entre distributions) : révèle un défaut de saisie sur une agence (90 % de motifs « autres »), pas un profil client</a:t>
            </a:r>
            <a:endParaRPr lang="en-US" sz="1370" dirty="0"/>
          </a:p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3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biparti vendeurs-opérations (209 vendeurs, 711 arêtes) : deux pivots concentrent 51,6 % des dossiers, désistement très contrasté (9,0 % vs 29,6 %)</a:t>
            </a:r>
            <a:endParaRPr lang="en-US" sz="1370" dirty="0"/>
          </a:p>
        </p:txBody>
      </p:sp>
      <p:sp>
        <p:nvSpPr>
          <p:cNvPr id="5" name="Shape 3"/>
          <p:cNvSpPr/>
          <p:nvPr/>
        </p:nvSpPr>
        <p:spPr>
          <a:xfrm>
            <a:off x="7360920" y="169164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70648" y="176479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= 0,343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470648" y="2624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Bayes, désistement prédit par le texte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60920" y="324612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70648" y="331927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51,6 %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470648" y="4178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dossiers concentrés sur 2 vendeurs pivots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60920" y="480060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70648" y="487375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9,0 % / 29,6 %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70648" y="573328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désistement : pivot interne vs prescripteur externe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 EN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plateforme : cinq pages pour la direction financière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41605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: 147 opérations, 421 lots en stock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marge : 10 en alerte sur 68 suffisamment engagées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 de vente : simulateur de taux 2026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 des prix : lots hors marché + grille ajustée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commerciale : alerte de saisie + recherche de dossiers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864608" y="1481328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31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1554480"/>
            <a:ext cx="3383280" cy="2066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76488" y="1481328"/>
            <a:ext cx="3255264" cy="2414016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8" name="Image 1" descr="/tmp/claude-0/-home-user-MemoireM2S2/bac073a6-7c4e-552a-9627-815aeb6fe82a/scratchpad/figs/p31-00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549640" y="1554480"/>
            <a:ext cx="3108960" cy="2267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37760" y="3703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85496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marge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937760" y="4160520"/>
            <a:ext cx="6720840" cy="1508760"/>
          </a:xfrm>
          <a:prstGeom prst="roundRect">
            <a:avLst>
              <a:gd name="adj" fmla="val 4848"/>
            </a:avLst>
          </a:prstGeom>
          <a:solidFill>
            <a:srgbClr val="F6F8FB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166360" y="4160520"/>
            <a:ext cx="6309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de conduite de projet : la première version parlait le vocabulaire des statistiques (F1, R²) — trop technique pour ses utilisateurs. Reconstruite en langage métier.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RÉFLEXION TRANSVERSALE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traducteur avant d'être un modélisateur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Traduire une gêne métier en question calculable, puis un résultat statistique en information sur laquelle décider. Le régime de preuve se déduit de la nature du livrable 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07008" y="2258568"/>
            <a:ext cx="9747504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35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2331720"/>
            <a:ext cx="9601200" cy="3913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 professionnel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Ingénierie des données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Reprises, migrations, interfaces de programmation — la compétence sur laquelle j'ai le plus progressé.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20240"/>
            <a:ext cx="457200" cy="45720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Modélisation proportionnée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une méthode adaptée à la donnée réellement disponible, et la valider honnêtement.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20240"/>
            <a:ext cx="457200" cy="457200"/>
          </a:xfrm>
          <a:prstGeom prst="ellipse">
            <a:avLst/>
          </a:prstGeom>
          <a:solidFill>
            <a:srgbClr val="4A3AA7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Dialogue avec les métiers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7532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Traduire un besoin en spécification, puis un résultat en écran.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à court terme : ingénieure données orientée aide à la décision — ou une direction data structurée.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96596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Structurer une donnée et la modéliser ne sont pas deux métiers séparés.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737360" y="30632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deux moments du même travail — et c'est le premier qui décide de ce que le second peut en tirer.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suis prête à répondre à vos questions.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2026-08-24T10:02:27Z</dcterms:created>
  <dcterms:modified xsi:type="dcterms:W3CDTF">2026-08-24T10:02:27Z</dcterms:modified>
</cp:coreProperties>
</file>