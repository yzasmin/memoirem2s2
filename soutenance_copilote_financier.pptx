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Reprise de données, reporting et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décision — Groupe Angelotti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Master MIASHS — Yasmina Saoud, alternance Groupe Angelotti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280160" cy="0"/>
          </a:xfrm>
          <a:prstGeom prst="line">
            <a:avLst/>
          </a:prstGeom>
          <a:noFill/>
          <a:ln w="38100">
            <a:solidFill>
              <a:srgbClr val="2A78D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 Angelotti et l'enjeu de l'année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943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Promoteur-aménageur immobilier, Occitanie et PACA, filiale de Nexity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métiers : promotion (construire, vendre) et aménagement (viabiliser du foncier)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opération = une société dédiée ; un budget posé à l'engagement, qui dérive ensuite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L'événement de l'année : le remplacement de l'ERP Grimmo par SPO — un changement de modèle de données, pas seulement d'outil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30568" y="1618488"/>
            <a:ext cx="4855464" cy="3008376"/>
          </a:xfrm>
          <a:prstGeom prst="roundRect">
            <a:avLst>
              <a:gd name="adj" fmla="val 182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2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691640"/>
            <a:ext cx="4709160" cy="2862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03720" y="46451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Les outils du système d'information et la circulation de la donnée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1 — REPRISE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migration des opérations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 opérations immobilières à recréer dans SPO — saisie manuelle exclue à cette échelle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via API pour le volume ; traitement manuel pour les cas hors gabarit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règles ERP non documentées, découvertes en creusant les erreurs : ordre d'injection strict, identifiants jamais stables</a:t>
            </a:r>
            <a:endParaRPr lang="en-US" sz="150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en « coquilles vides » : la structure d'abord, le détail budgétaire ensuite, pour ne pas interrompre la facturation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42048" y="2029968"/>
            <a:ext cx="4443984" cy="1764792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3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103120"/>
            <a:ext cx="4297680" cy="1618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0" y="3767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La séquence d'injection imposée par l'intégrité référentielle de l'ERP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0" y="4434840"/>
            <a:ext cx="4297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24928" y="4526280"/>
            <a:ext cx="407822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283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424928" y="521208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créées dans SPO à la fin du semestre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1 — REPRISE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le problème du doublon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semestre : reconstituer le référentiel client (« tiers » dans SPO)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Matière première : 1 557 lignes de ventes + 1 602 lignes de coordonnées, issues du CRM Vadimm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: une ligne décrit un achat, pas un client — un client fidèle apparaît plusieurs fois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 n'était pas vide : environ 13 000 tiers déjà présents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98080" y="16916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07808" y="1783080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607808" y="26060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de coordonnées, brutes, à trier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32461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07808" y="3337560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13 000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607808" y="416052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déjà créés dans SPO avant l'import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51206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6F8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: créer chaque client une fois, et une seule — sans vérification manuelle ligne à ligne.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1 — REPRISE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la solution et les résultats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de travail piloté par formules : la décision d'importer une ligne est calculée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clés d'unicité différenciées selon la nature du tiers (couple / personne physique / personne morale)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872 requêtes API (JSON Patch) pour les coordonnées des couples — toutes passées sans erreur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48" y="1527048"/>
            <a:ext cx="5586984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600200"/>
            <a:ext cx="5440680" cy="2048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4251960"/>
            <a:ext cx="32552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1 434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58368" y="5440680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créés, zéro doublon détecté par les 3 clés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78808" y="4087368"/>
            <a:ext cx="750722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11" name="Image 1" descr="/tmp/claude-0/-home-user-MemoireM2S2/bac073a6-7c4e-552a-9627-815aeb6fe82a/scratchpad/figs/p20-00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4160520"/>
            <a:ext cx="7360920" cy="1737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28600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reprises répondent à une question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donnée est-elle bien arrivée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37490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reconstitué permet de se poser une question différente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peut-on en tirer pour la décision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2 — LE COPILOTE FINANCIER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trois axes de travail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financière suit ses dérives opération par opération, sur tableurs, sans vision transverse.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2377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métier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 de modèles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Risque de marge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Quelles opérations dérapent ?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(OLS, Ridge), classification (logistique, SVM, arbres, forêt)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Vitesse d'écoulement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Combien de réservations par mois ?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Effets aléatoires (panel), ARIMAX, courbe logistique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A3A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Optimisation de prix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 prix pour quel lot ?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hédonique, optimisation sous contrainte (Lagrange)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4983480"/>
            <a:ext cx="33467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5669280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réelles mobilisées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48920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4983480"/>
            <a:ext cx="33467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07408" y="5669280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exécutés et vérifiés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46720" y="489204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56448" y="4983480"/>
            <a:ext cx="33467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156448" y="5669280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restituées à l'écran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risque de marge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: 123 opérations suffisamment avancées (engagement ≥ 60 %)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du taux de dérive : R² test = 0,08 — résultat modeste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en classification « à risque » : F1 ≈ 0,30 (forêt aléatoire) contre 0 pour la référence naïve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assumé : signal réel mais faible — la structure budgétaire prédispose, elle ne détermine pas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655064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7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508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22783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Distribution de la variation de marge, seuil de dérive matérielle à −2 %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086600" y="397764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069080"/>
            <a:ext cx="19293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96328" y="5257800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opérations en dérive matérielle (&gt; 2 %)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464040" y="397764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73768" y="4069080"/>
            <a:ext cx="19293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≈ 0,30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9573768" y="5257800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 pour la référence naïve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vitesse d'écoulement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3 230 observations (opération × mois, 160 opérations)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 la variance du rythme tient au programme lui-même, 1/3 à la conjoncture (ICC = 0,66)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point de taux de crédit ⇒ −19 % de réservations mensuelles (p &lt; 10⁻¹⁵)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par série temporelle : effet non identifiable isolément (p = 0,82) — validation méthodologique, pas un échec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8105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2958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Scénarios de taux 2026 : trajectoire ARIMA combinée à l'élasticité du panel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086600" y="4279392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370832"/>
            <a:ext cx="19293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−19 %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96328" y="5239512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réservations par point de taux en plus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464040" y="4279392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73768" y="4370832"/>
            <a:ext cx="19293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ICC 0,66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9573768" y="5239512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variance imputable au programme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989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solide du projet.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L'optimisation des prix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hédonique (prix = somme de caractéristiques valorisées séparément) sur 5 064 appartements vendus depuis 2016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Appliqué au stock : 24 lots sur 127 hors marché (16 sous-cotés, 8 surcotés)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 prix-demande non significative en interne (p = 0,57, n = 95) → fixée prudemment à −1, valeur documentée, pas mesurée avec précision</a:t>
            </a:r>
            <a:endParaRPr lang="en-US" sz="1450" dirty="0"/>
          </a:p>
          <a:p>
            <a:pPr marL="228600" indent="-2286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contre-intuitif : la remise optimale est un montant identique en euros sur tous les lots — donc un pourcentage plus fort sur les petits lots, à l'inverse de la pratique actuelle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24928" y="1783080"/>
            <a:ext cx="40782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0,886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24928" y="265176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du prix expliquée, erreur type ≈ 11 %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0" y="329184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24928" y="3383280"/>
            <a:ext cx="40782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127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24928" y="425196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du stock signalés hors marché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4892040"/>
            <a:ext cx="42976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24928" y="4983480"/>
            <a:ext cx="407822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23 k€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424928" y="585216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remise optimale, identique en euros par lot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EN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plateforme : cinq pages pour la direction financière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1605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2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: 147 opérations suivies, 421 lots en stock, rythme récent</a:t>
            </a:r>
            <a:endParaRPr lang="en-US" sz="1270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2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 : 10 opérations en alerte sur 68 suffisamment engagées</a:t>
            </a:r>
            <a:endParaRPr lang="en-US" sz="1270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2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de vente : simulateur — un curseur de taux 2026 donne le rythme attendu</a:t>
            </a:r>
            <a:endParaRPr lang="en-US" sz="1270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2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des prix : lots hors marché + grille ajustée recommandée</a:t>
            </a:r>
            <a:endParaRPr lang="en-US" sz="1270" dirty="0"/>
          </a:p>
          <a:p>
            <a:pPr marL="228600" indent="-2286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27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commerciale : alerte de saisie par agence + recherche de dossiers similaires</a:t>
            </a:r>
            <a:endParaRPr lang="en-US" sz="1270" dirty="0"/>
          </a:p>
        </p:txBody>
      </p:sp>
      <p:sp>
        <p:nvSpPr>
          <p:cNvPr id="5" name="Shape 3"/>
          <p:cNvSpPr/>
          <p:nvPr/>
        </p:nvSpPr>
        <p:spPr>
          <a:xfrm>
            <a:off x="4864608" y="1481328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1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554480"/>
            <a:ext cx="3383280" cy="2066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76488" y="1481328"/>
            <a:ext cx="3255264" cy="2414016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31-00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49640" y="1554480"/>
            <a:ext cx="3108960" cy="2267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3776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5496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0" y="4160520"/>
            <a:ext cx="6720840" cy="1508760"/>
          </a:xfrm>
          <a:prstGeom prst="roundRect">
            <a:avLst>
              <a:gd name="adj" fmla="val 4848"/>
            </a:avLst>
          </a:prstGeom>
          <a:solidFill>
            <a:srgbClr val="F6F8FB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166360" y="416052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de conduite de projet : la première version parlait le langage des notebooks (F1, R²) — trop technique pour ses utilisateurs. Reconstruite en langage métier, sans jargon statistique à l'écran.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RÉFLEXION TRANSVERSALE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traducteur avant d'être un modélisateur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une gêne métier en question calculable, puis un résultat statistique en information sur laquelle décider. Le régime de preuve se déduit de la nature du livrable 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07008" y="2258568"/>
            <a:ext cx="9747504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5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331720"/>
            <a:ext cx="9601200" cy="3913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professionnel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 des données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Reprises, migrations, interfaces de programmation, déduplication — la compétence sur laquelle j'ai le plus progressé.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20240"/>
            <a:ext cx="457200" cy="45720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proportionnée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31546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méthode adaptée à la donnée réellement disponible, et la valider honnêtement.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Dialogue avec les métiers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 besoin en spécification, puis un résultat en écran — ce qui décide si un livrable sert vraiment.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à court terme : ingénieure données orientée aide à la décision — ou une direction data structurée, pour travailler enfin à plusieurs sur un même chantier.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9659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Structurer une donnée et la modéliser ne sont pas deux métiers séparés.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737360" y="30632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moments du même travail — et c'est le premier qui décide de ce que le second peut en tirer.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prête à répondre à vos questions.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2026-08-24T09:37:35Z</dcterms:created>
  <dcterms:modified xsi:type="dcterms:W3CDTF">2026-08-24T09:37:35Z</dcterms:modified>
</cp:coreProperties>
</file>