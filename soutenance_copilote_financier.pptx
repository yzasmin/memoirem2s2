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Reprise de données, reporting et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aide à la décision — Groupe Angelotti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Master MIASHS — Yasmina Saoud, alternance Groupe Angelotti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280160" cy="0"/>
          </a:xfrm>
          <a:prstGeom prst="line">
            <a:avLst/>
          </a:prstGeom>
          <a:noFill/>
          <a:ln w="38100">
            <a:solidFill>
              <a:srgbClr val="2A78D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: le groupe Angelotti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Promoteur-aménageur immobilier, filiale de Nexity — deux métiers, la promotion (logements neufs) et l'aménagement (viabilisation de terrains)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opération = une société dédiée ; budget posé à l'engagement, qui dérive au fil du chantier et des ventes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: dérives suivies opération par opération, sur tableurs, sans vision transverse — le constat qui motive les deux projets présentés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76288" y="1664208"/>
            <a:ext cx="4809744" cy="2980944"/>
          </a:xfrm>
          <a:prstGeom prst="roundRect">
            <a:avLst>
              <a:gd name="adj" fmla="val 184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2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1737360"/>
            <a:ext cx="4663440" cy="2834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Les outils du système d'information et la circulation de la donnée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migration des opérations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de l'année : l'ERP Grimmo remplacé par SPO — un changement de modèle de données, pas seulement d'outil</a:t>
            </a:r>
            <a:endParaRPr lang="en-US" sz="135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283 opérations à recréer : automatisation par API pour le volume, traitement manuel des cas hors gabarit</a:t>
            </a:r>
            <a:endParaRPr lang="en-US" sz="135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règles non documentées, découvertes en creusant les erreurs : ordre d'injection strict, identifiants non stables</a:t>
            </a:r>
            <a:endParaRPr lang="en-US" sz="135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paliers (3 pilotes → 12 → masse), déploiement en « coquilles vides »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013448" y="1664208"/>
            <a:ext cx="4672584" cy="1856232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3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737360"/>
            <a:ext cx="4526280" cy="1709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53872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La séquence d'injection imposée par l'intégrité référentielle de l'ERP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086600" y="4206240"/>
            <a:ext cx="4526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279392"/>
            <a:ext cx="4306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283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5230368"/>
            <a:ext cx="4306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créées dans SPO à la fin du semestre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 : le problème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semestre : reconstituer le référentiel client (« tiers » dans SPO)</a:t>
            </a:r>
            <a:endParaRPr lang="en-US" sz="16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1 557 ventes + 1 602 lignes de coordonnées issues du CRM — une ligne décrit un achat, pas un client</a:t>
            </a:r>
            <a:endParaRPr lang="en-US" sz="16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 n'était pas vide : environ 13 000 tiers déjà présents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6F8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97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: créer chaque client une fois, et une seule — sans vérification manuelle ligne à ligne.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 : la solution et les résultats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piloté par formules : trois clés d'unicité différenciées (couple / personne physique / personne morale)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clé calcule un rang plutôt qu'une suppression — traçable, rien n'est effacé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872 requêtes API (5 lots) pour les coordonnées des couples — toutes passées sans erreur ; 9 cas particuliers traités à la main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9048" y="1527048"/>
            <a:ext cx="5586984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600200"/>
            <a:ext cx="5440680" cy="20482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" y="4233672"/>
            <a:ext cx="3255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1 434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58368" y="5458968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créés, zéro doublon détecté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178808" y="4087368"/>
            <a:ext cx="750722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11" name="Image 1" descr="/tmp/claude-0/-home-user-MemoireM2S2/bac073a6-7c4e-552a-9627-815aeb6fe82a/scratchpad/figs/p20-00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4160520"/>
            <a:ext cx="7360920" cy="1737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ces deux reprises ont en commun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méthode : avancer par paliers quand le modèle cible n'est pas connu à l'avance — un rejet est une information, pas une erreur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répondent à la même question : la donnée est-elle bien arrivée ?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mort assumé : ça prouve qu'une donnée est arrivée, pas qu'elle est juste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2103120"/>
            <a:ext cx="4297680" cy="2377440"/>
          </a:xfrm>
          <a:prstGeom prst="roundRect">
            <a:avLst>
              <a:gd name="adj" fmla="val 3846"/>
            </a:avLst>
          </a:prstGeom>
          <a:solidFill>
            <a:srgbClr val="F2F7FD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43800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Régime de preuve :</a:t>
            </a:r>
            <a:endParaRPr lang="en-US" sz="1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réconciliation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635240" y="3429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Ce qui est arrivé correspond-il à ce qui est parti ? »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28600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reprises répondent à une question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donnée est-elle bien arrivée 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37490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socle reconstitué permet de se poser une question différente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peut-on en tirer pour la décision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 —  70 % DE CETTE SOUTENANCE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2 — LE COPILOTE FINANCIER (≈70 %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Contexte, données et méthode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 financière suit ses dérives opération par opération, sur tableurs, sans vision transverse.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1488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métier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 de modèles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Risque de marge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Quelles opérations dérapent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Régression, classification (6 méthodes)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Vitesse d'écoulement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Combien de réservations par mois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Effets aléatoires (panel), ARIMA, logistique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A3A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Optimisation de prix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 prix pour quel lot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hédonique, optimisation (Lagrange)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A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Transverse — signaux faibles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Texte et réseau de vente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TF-IDF, Naive Bayes, graphe biparti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5836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réelles mobilisées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0740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40740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d'analyse exécutés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04672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5644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15644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 de méthodes différentes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transversal : sur un échantillon restreint, un résultat n'est retenu que s'il tient en validation croisée — jamais sur sa seule performance d'ajustement.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AVANT DE MODÉLISER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des données : deux leçons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au m² très asymétrique → quasi normal après log-transformation → l'axe C modélise le log-prix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repéré : la corrélation brute réservations / taux de crédit est quasi nulle — la croissance du portefeuille maquille la relation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Corrigée par opération active, la corrélation redevient nette et négative — cette correction structure toute la démarche de l'axe B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" y="3447288"/>
            <a:ext cx="5678424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6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520440"/>
            <a:ext cx="5532120" cy="2651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81928" y="3447288"/>
            <a:ext cx="5404104" cy="1746504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26-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3520440"/>
            <a:ext cx="5257800" cy="1600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2362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Prix au m², brut puis log-transformé (asymétrie corrigée)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355080" y="5193792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Intensité de vente : l'effet des taux apparaît une fois l'effet de portefeuille neutralisé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INFRASTRUCTURE (NOTEBOOK 01)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base de données SQL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exports Excel transformés en base SQLite : 7 tables + 3 vues SQL métier (marge par opération, réservations par mois, état du stock)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vue n'est écrite qu'une fois : notebooks et plateforme partagent la même définition de chaque indicateur, au lieu de la recopier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chronométré honnêtement avec Spark, pour vérifier le chemin de montée en charge si le Copilote devait couvrir tout le groupe Nexity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4279392"/>
            <a:ext cx="3346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+ 3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" y="550468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et vues SQL métier construites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4206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07408" y="4279392"/>
            <a:ext cx="3346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117,1 M€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407408" y="550468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 budgété sur 2 opérations au Cap d'Agde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46720" y="4206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56448" y="4279392"/>
            <a:ext cx="3346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9,9 ms / 577,4 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56448" y="550468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vs Spark (+ 23,9 s de démarrage) — Spark surdimensionné ici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base solidement posée, encore une étape avant l'axe 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UNE ÉTAPE AVANT L'AXE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typologie des opérations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une opération de 2 M€ à une de 50 M€ sur leurs montants bruts n'a pas de sens : c'est la structure du budget qui les distingue.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(analyse en composantes principales) : 2 axes résument 61 % de la structure des coûts, vérifié par une seconde méthode indépendante (SVD)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Croisée avec une classification non supervisée : 4 familles d'opérations — résidentiel classique, aménagement foncier, promotion sur foncier allégé, aménagement lourd VRD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2062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4279392"/>
            <a:ext cx="5175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58368" y="5504688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structure des coûts résumée par 2 axes de l'ACP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42062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27648" y="4279392"/>
            <a:ext cx="5175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+7,9 % à +11,3 %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327648" y="5504688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marges des 5 voisines du Parc des Cyclades (budget +6,5 %)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typologie sert directement de comparateur dans l'axe 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risque de marge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opérations suffisamment avancées : 28 % en dérive matérielle (&gt; 2 %)</a:t>
            </a:r>
            <a:endParaRPr lang="en-US" sz="1200" dirty="0"/>
          </a:p>
          <a:p>
            <a:pPr marL="203200" indent="-2032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du taux de dérive : R² test = 0,08 → bascule en classification</a:t>
            </a:r>
            <a:endParaRPr lang="en-US" sz="1200" dirty="0"/>
          </a:p>
          <a:p>
            <a:pPr marL="203200" indent="-2032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la typologie construite juste avant, comparaison de six méthodes de classification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655064"/>
          </a:xfrm>
          <a:prstGeom prst="roundRect">
            <a:avLst>
              <a:gd name="adj" fmla="val 331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7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508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22783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Distribution de la variation de marge, seuil de dérive matérielle à −2 %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3977640"/>
            <a:ext cx="11064240" cy="384048"/>
          </a:xfrm>
          <a:prstGeom prst="roundRect">
            <a:avLst>
              <a:gd name="adj" fmla="val 14286"/>
            </a:avLst>
          </a:prstGeom>
          <a:solidFill>
            <a:srgbClr val="1A1A19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97764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six méthodes en validation croisée — métrique F1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777240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linéaire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RBF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Forêt (retenue)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(train / CV)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0,913 / 0,262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3035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MLP illustre le sur-apprentissage : F1 = 0,91 en apprentissage contre 0,26 en validation — la signature d'un petit échantillon.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réel mais faible — pas un oracle.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vitesse d'écoulement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3 230 observations (opération × mois) — modèle à effets aléatoires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 la variance = effet propre à l'opération, 1/3 = conjoncture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par série temporelle : effet du taux non identifiable isolément — validation méthodologique, pas un échec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8105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52958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Scénarios de taux 2026 : trajectoire ARIMA combinée à l'élasticité du panel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086600" y="425196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325112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−19 %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5230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réservations par point de taux en plus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464040" y="425196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73768" y="4325112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mois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573768" y="5230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médian pour 90 % du potentiel vendu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48640" y="5852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le plus solide du projet.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L'optimisation des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hédonique sur 5 064 appartements vendus depuis 2016 — primes cohérentes (étage +6,0 %, sud +2,6 %, social −62,8 %, millésime +19-21 %)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Élasticité non significative en interne (p = 0,57) → fixée prudemment à −1, documentée plutôt que masquée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par multiplicateur de Lagrange, vérifiée par un second solveur indépendant (SLSQP) — convergence à 0,006 près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contre-intuitif : remise optimale identique en euros sur tous les lots — ex. Arpeggio (18 lots), ajustements de −5 % à −14 % selon le prix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24928" y="176479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0,886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24928" y="262432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du prix expliquée, erreur type ≈ 11 %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0" y="324612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24928" y="331927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127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424928" y="41788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du stock signalés hors marché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480060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24928" y="487375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424928" y="573328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entre les deux solveurs d'optimisation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TRANSVERSE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Signaux faibles : texte et réseau de vente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5836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9 688 commentaires libres de vente : moteur de recherche par similarité (TF-IDF + cosinus, corpus de 1 346 documents)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désistement par le texte, fuite contrôlée (314 commentaires écartés) : Naive Bayes F1 = 0,343, préféré à une régression logistique quasi muette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de Kullback-Leibler (écart entre distributions) : révèle un défaut de saisie sur une agence (90 % de motifs « autres »), pas un profil client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biparti vendeurs-opérations (209 vendeurs, 711 arêtes) : deux pivots concentrent 51,6 % des dossiers, désistement très contrasté (9,0 % vs 29,6 %)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60920" y="169164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70648" y="176479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= 0,343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70648" y="2624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Bayes, désistement prédit par le texte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60920" y="324612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70648" y="331927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51,6 %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470648" y="4178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dossiers concentrés sur 2 vendeurs pivots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480060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70648" y="487375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9,0 % / 29,6 %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70648" y="573328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désistement : pivot interne vs prescripteur externe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EN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plateforme : cinq pages pour la direction financière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1605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: 147 opérations, 421 lots en stock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 : 10 en alerte sur 68 suffisamment engagées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de vente : simulateur de taux 2026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des prix : lots hors marché + grille ajustée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commerciale : alerte de saisie + recherche de dossiers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864608" y="1481328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1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554480"/>
            <a:ext cx="3383280" cy="2066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76488" y="1481328"/>
            <a:ext cx="3255264" cy="2414016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31-00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49640" y="1554480"/>
            <a:ext cx="3108960" cy="2267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37760" y="3703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85496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937760" y="4160520"/>
            <a:ext cx="6720840" cy="1508760"/>
          </a:xfrm>
          <a:prstGeom prst="roundRect">
            <a:avLst>
              <a:gd name="adj" fmla="val 4848"/>
            </a:avLst>
          </a:prstGeom>
          <a:solidFill>
            <a:srgbClr val="F6F8FB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166360" y="416052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de conduite de projet : la première version parlait le vocabulaire des statistiques (F1, R²) — trop technique pour ses utilisateurs. Reconstruite en langage métier.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RÉFLEXION TRANSVERSALE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traducteur avant d'être un modélisateur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une gêne métier en question calculable, puis un résultat statistique en information sur laquelle décider. Le régime de preuve se déduit de la nature du livrable 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07008" y="2258568"/>
            <a:ext cx="9747504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5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331720"/>
            <a:ext cx="9601200" cy="3913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 professionnel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Ingénierie des données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Reprises, migrations, interfaces de programmation — la compétence sur laquelle j'ai le plus progressé.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20240"/>
            <a:ext cx="457200" cy="45720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proportionnée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méthode adaptée à la donnée réellement disponible, et la valider honnêtement.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Dialogue avec les métiers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 besoin en spécification, puis un résultat en écran.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à court terme : ingénieure données orientée aide à la décision — ou une direction data structurée.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9659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Structurer une donnée et la modéliser ne sont pas deux métiers séparés.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737360" y="30632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deux moments du même travail — et c'est le premier qui décide de ce que le second peut en tirer.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prête à répondre à vos questions.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2026-08-25T19:20:29Z</dcterms:created>
  <dcterms:modified xsi:type="dcterms:W3CDTF">2026-08-25T19:20:29Z</dcterms:modified>
</cp:coreProperties>
</file>