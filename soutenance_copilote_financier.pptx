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2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48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8F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COPILOTE FINANCIER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260604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Reprise de données, reporting et</a:t>
            </a:r>
            <a:endParaRPr lang="en-US" sz="40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aide à la décision — Groupe Angelotti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4434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Soutenance de Master MIASHS — Yasmina Saoud, alternance Groupe Angelotti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" y="1965960"/>
            <a:ext cx="1280160" cy="0"/>
          </a:xfrm>
          <a:prstGeom prst="line">
            <a:avLst/>
          </a:prstGeom>
          <a:noFill/>
          <a:ln w="38100">
            <a:solidFill>
              <a:srgbClr val="2A78D6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1 — REPRISE DE DONNÉES (≈30 % DU TEMPS)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Contexte : le groupe Angelotti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63093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6000"/>
              </a:lnSpc>
              <a:spcAft>
                <a:spcPts val="1800"/>
              </a:spcAft>
              <a:buSzPct val="100000"/>
              <a:buChar char="•"/>
            </a:pPr>
            <a:r>
              <a:rPr lang="en-US" sz="15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Promoteur-aménageur immobilier, filiale de Nexity — deux métiers, la promotion (logements neufs) et l'aménagement (viabilisation de terrains)</a:t>
            </a:r>
            <a:endParaRPr lang="en-US" sz="1500" dirty="0"/>
          </a:p>
          <a:p>
            <a:pPr marL="203200" indent="-203200">
              <a:lnSpc>
                <a:spcPct val="106000"/>
              </a:lnSpc>
              <a:spcAft>
                <a:spcPts val="1800"/>
              </a:spcAft>
              <a:buSzPct val="100000"/>
              <a:buChar char="•"/>
            </a:pPr>
            <a:r>
              <a:rPr lang="en-US" sz="15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opération = une société dédiée ; budget posé à l'engagement, qui dérive au fil du chantier et des ventes</a:t>
            </a:r>
            <a:endParaRPr lang="en-US" sz="1500" dirty="0"/>
          </a:p>
          <a:p>
            <a:pPr marL="203200" indent="-203200">
              <a:lnSpc>
                <a:spcPct val="106000"/>
              </a:lnSpc>
              <a:spcAft>
                <a:spcPts val="1800"/>
              </a:spcAft>
              <a:buSzPct val="100000"/>
              <a:buChar char="•"/>
            </a:pPr>
            <a:r>
              <a:rPr lang="en-US" sz="15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Aujourd'hui : dérives suivies opération par opération, sur tableurs, sans vision transverse — le constat qui motive les deux projets présentés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76288" y="1664208"/>
            <a:ext cx="4809744" cy="2980944"/>
          </a:xfrm>
          <a:prstGeom prst="roundRect">
            <a:avLst>
              <a:gd name="adj" fmla="val 1840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6" name="Image 0" descr="/tmp/claude-0/-home-user-MemoireM2S2/bac073a6-7c4e-552a-9627-815aeb6fe82a/scratchpad/figs/p12-00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0" y="1737360"/>
            <a:ext cx="4663440" cy="2834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949440" y="46634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— Les outils du système d'information et la circulation de la donnée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1 — REPRISE DE DONNÉES (≈30 % DU TEMPS)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migration des opérations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63093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6000"/>
              </a:lnSpc>
              <a:spcAft>
                <a:spcPts val="1300"/>
              </a:spcAft>
              <a:buSzPct val="100000"/>
              <a:buChar char="•"/>
            </a:pPr>
            <a:r>
              <a:rPr lang="en-US" sz="13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Événement de l'année : l'ERP Grimmo remplacé par SPO — un changement de modèle de données, pas seulement d'outil</a:t>
            </a:r>
            <a:endParaRPr lang="en-US" sz="1350" dirty="0"/>
          </a:p>
          <a:p>
            <a:pPr marL="203200" indent="-203200">
              <a:lnSpc>
                <a:spcPct val="106000"/>
              </a:lnSpc>
              <a:spcAft>
                <a:spcPts val="1300"/>
              </a:spcAft>
              <a:buSzPct val="100000"/>
              <a:buChar char="•"/>
            </a:pPr>
            <a:r>
              <a:rPr lang="en-US" sz="13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283 opérations à recréer : automatisation par API pour le volume, traitement manuel des cas hors gabarit</a:t>
            </a:r>
            <a:endParaRPr lang="en-US" sz="1350" dirty="0"/>
          </a:p>
          <a:p>
            <a:pPr marL="203200" indent="-203200">
              <a:lnSpc>
                <a:spcPct val="106000"/>
              </a:lnSpc>
              <a:spcAft>
                <a:spcPts val="1300"/>
              </a:spcAft>
              <a:buSzPct val="100000"/>
              <a:buChar char="•"/>
            </a:pPr>
            <a:r>
              <a:rPr lang="en-US" sz="13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règles non documentées, découvertes en creusant les erreurs : ordre d'injection strict, identifiants non stables</a:t>
            </a:r>
            <a:endParaRPr lang="en-US" sz="1350" dirty="0"/>
          </a:p>
          <a:p>
            <a:pPr marL="203200" indent="-203200">
              <a:lnSpc>
                <a:spcPct val="106000"/>
              </a:lnSpc>
              <a:spcAft>
                <a:spcPts val="1300"/>
              </a:spcAft>
              <a:buSzPct val="100000"/>
              <a:buChar char="•"/>
            </a:pPr>
            <a:r>
              <a:rPr lang="en-US" sz="13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par paliers (3 pilotes → 12 → masse), déploiement en « coquilles vides »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013448" y="1664208"/>
            <a:ext cx="4672584" cy="1856232"/>
          </a:xfrm>
          <a:prstGeom prst="roundRect">
            <a:avLst>
              <a:gd name="adj" fmla="val 2956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6" name="Image 0" descr="/tmp/claude-0/-home-user-MemoireM2S2/bac073a6-7c4e-552a-9627-815aeb6fe82a/scratchpad/figs/p13-00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086600" y="1737360"/>
            <a:ext cx="4526280" cy="17099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086600" y="3538728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— La séquence d'injection imposée par l'intégrité référentielle de l'ERP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7086600" y="4206240"/>
            <a:ext cx="45262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196328" y="4279392"/>
            <a:ext cx="43068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283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7196328" y="5230368"/>
            <a:ext cx="43068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opérations créées dans SPO à la fin du semestre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1 — REPRISE DE DONNÉES (≈30 % DU TEMPS)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reprise des tiers : le problème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1064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60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semestre : reconstituer le référentiel client (« tiers » dans SPO)</a:t>
            </a:r>
            <a:endParaRPr lang="en-US" sz="1600" dirty="0"/>
          </a:p>
          <a:p>
            <a:pPr marL="203200" indent="-203200">
              <a:lnSpc>
                <a:spcPct val="1060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1 557 ventes + 1 602 lignes de coordonnées issues du CRM — une ligne décrit un achat, pas un client</a:t>
            </a:r>
            <a:endParaRPr lang="en-US" sz="1600" dirty="0"/>
          </a:p>
          <a:p>
            <a:pPr marL="203200" indent="-203200">
              <a:lnSpc>
                <a:spcPct val="106000"/>
              </a:lnSpc>
              <a:spcAft>
                <a:spcPts val="1600"/>
              </a:spcAft>
              <a:buSzPct val="100000"/>
              <a:buChar char="•"/>
            </a:pPr>
            <a:r>
              <a:rPr lang="en-US" sz="16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 n'était pas vide : environ 13 000 tiers déjà présents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4297680"/>
            <a:ext cx="11064240" cy="1371600"/>
          </a:xfrm>
          <a:prstGeom prst="roundRect">
            <a:avLst>
              <a:gd name="adj" fmla="val 5333"/>
            </a:avLst>
          </a:prstGeom>
          <a:solidFill>
            <a:srgbClr val="F6F8FB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429768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Enjeu : créer chaque client une fois, et une seule — sans vérification manuelle ligne à ligne.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1 — REPRISE DE DONNÉES (≈30 % DU TEMPS)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reprise des tiers : la solution et les résultats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53949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6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 piloté par formules : trois clés d'unicité différenciées (couple / personne physique / personne morale)</a:t>
            </a:r>
            <a:endParaRPr lang="en-US" sz="1300" dirty="0"/>
          </a:p>
          <a:p>
            <a:pPr marL="203200" indent="-203200">
              <a:lnSpc>
                <a:spcPct val="106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clé calcule un rang plutôt qu'une suppression — traçable, rien n'est effacé</a:t>
            </a:r>
            <a:endParaRPr lang="en-US" sz="1300" dirty="0"/>
          </a:p>
          <a:p>
            <a:pPr marL="203200" indent="-203200">
              <a:lnSpc>
                <a:spcPct val="106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872 requêtes API (5 lots) pour les coordonnées des couples — toutes passées sans erreur ; 9 cas particuliers traités à la main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099048" y="1527048"/>
            <a:ext cx="5586984" cy="219456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6" name="Image 0" descr="/tmp/claude-0/-home-user-MemoireM2S2/bac073a6-7c4e-552a-9627-815aeb6fe82a/scratchpad/figs/p18-00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72200" y="1600200"/>
            <a:ext cx="5440680" cy="204825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160520"/>
            <a:ext cx="347472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58368" y="4233672"/>
            <a:ext cx="32552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1 434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658368" y="5458968"/>
            <a:ext cx="3255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tiers créés, zéro doublon détecté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178808" y="4087368"/>
            <a:ext cx="7507224" cy="1883664"/>
          </a:xfrm>
          <a:prstGeom prst="roundRect">
            <a:avLst>
              <a:gd name="adj" fmla="val 2913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11" name="Image 1" descr="/tmp/claude-0/-home-user-MemoireM2S2/bac073a6-7c4e-552a-9627-815aeb6fe82a/scratchpad/figs/p20-000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251960" y="4160520"/>
            <a:ext cx="7360920" cy="17373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1 — REPRISE DE DONNÉES (≈30 % DU TEMPS)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 que ces deux reprises ont en commun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6492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6000"/>
              </a:lnSpc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Même méthode : avancer par paliers quand le modèle cible n'est pas connu à l'avance — un rejet est une information, pas une erreur</a:t>
            </a:r>
            <a:endParaRPr lang="en-US" sz="1500" dirty="0"/>
          </a:p>
          <a:p>
            <a:pPr marL="203200" indent="-203200">
              <a:lnSpc>
                <a:spcPct val="106000"/>
              </a:lnSpc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deux répondent à la même question : la donnée est-elle bien arrivée ?</a:t>
            </a:r>
            <a:endParaRPr lang="en-US" sz="1500" dirty="0"/>
          </a:p>
          <a:p>
            <a:pPr marL="203200" indent="-203200">
              <a:lnSpc>
                <a:spcPct val="106000"/>
              </a:lnSpc>
              <a:spcAft>
                <a:spcPts val="1600"/>
              </a:spcAft>
              <a:buSzPct val="100000"/>
              <a:buChar char="•"/>
            </a:pPr>
            <a:r>
              <a:rPr lang="en-US" sz="15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Angle mort assumé : ça prouve qu'une donnée est arrivée, pas qu'elle est juste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315200" y="2103120"/>
            <a:ext cx="4297680" cy="2377440"/>
          </a:xfrm>
          <a:prstGeom prst="roundRect">
            <a:avLst>
              <a:gd name="adj" fmla="val 3846"/>
            </a:avLst>
          </a:prstGeom>
          <a:solidFill>
            <a:srgbClr val="F2F7FD"/>
          </a:solidFill>
          <a:ln w="19050">
            <a:solidFill>
              <a:srgbClr val="2A78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543800" y="246888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Régime de preuve :</a:t>
            </a:r>
            <a:endParaRPr lang="en-US" sz="1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9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réconciliation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635240" y="34290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 Ce qui est arrivé correspond-il à ce qui est parti ? »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72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2286000"/>
            <a:ext cx="9966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deux reprises répondent à une question :</a:t>
            </a:r>
            <a:endParaRPr lang="en-US" sz="2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donnée est-elle bien arrivée 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097280" y="3749040"/>
            <a:ext cx="9966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socle reconstitué permet de se poser une question différente :</a:t>
            </a:r>
            <a:endParaRPr lang="en-US" sz="2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 peut-on en tirer pour la décision 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097280" y="52578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COPILOTE FINANCIER  —  70 % DE CETTE SOUTENANCE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2 — LE COPILOTE FINANCIER (≈70 % DU TEMPS)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Contexte, données et méthode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517904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direction financière suit ses dérives opération par opération, sur tableurs, sans vision transverse.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64240" cy="214884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 métier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Famille de modèles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A78D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— Risque de marge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Quelles opérations dérapent 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Régression, classification (6 méthodes)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AF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— Vitesse d'écoulement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Combien de réservations par mois 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Effets aléatoires (panel), ARIMA, logistique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4A3AA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— Optimisation de prix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Quel prix pour quel lot 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OLS hédonique, optimisation (Lagrange)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EDA1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Transverse — signaux faibles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Texte et réseau de vente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TF-IDF, Naive Bayes, graphe biparti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34340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58368" y="4416552"/>
            <a:ext cx="3346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267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58368" y="5093208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opérations réelles mobilisées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297680" y="434340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407408" y="4416552"/>
            <a:ext cx="3346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4407408" y="5093208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programmes d'analyse exécutés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046720" y="4343400"/>
            <a:ext cx="35661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156448" y="4416552"/>
            <a:ext cx="334670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3A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156448" y="5093208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familles de méthodes différentes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Principe transversal : sur un échantillon restreint, un résultat n'est retenu que s'il tient en validation croisée — jamais sur sa seule performance d'ajustement.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A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AVANT DE MODÉLISER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Exploration des données : deux leçons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6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Prix au m² très asymétrique → quasi normal après log-transformation → l'axe C modélise le log-prix</a:t>
            </a:r>
            <a:endParaRPr lang="en-US" sz="1400" dirty="0"/>
          </a:p>
          <a:p>
            <a:pPr marL="203200" indent="-203200">
              <a:lnSpc>
                <a:spcPct val="106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Piège repéré : la corrélation brute réservations / taux de crédit est quasi nulle — la croissance du portefeuille maquille la relation</a:t>
            </a:r>
            <a:endParaRPr lang="en-US" sz="1400" dirty="0"/>
          </a:p>
          <a:p>
            <a:pPr marL="203200" indent="-203200">
              <a:lnSpc>
                <a:spcPct val="106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Corrigée par opération active, la corrélation redevient nette et négative — cette correction structure toute la démarche de l'axe B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75488" y="3447288"/>
            <a:ext cx="5678424" cy="2798064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6" name="Image 0" descr="/tmp/claude-0/-home-user-MemoireM2S2/bac073a6-7c4e-552a-9627-815aeb6fe82a/scratchpad/figs/p26-00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3520440"/>
            <a:ext cx="5532120" cy="26517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281928" y="3447288"/>
            <a:ext cx="5404104" cy="1746504"/>
          </a:xfrm>
          <a:prstGeom prst="roundRect">
            <a:avLst>
              <a:gd name="adj" fmla="val 3141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8" name="Image 1" descr="/tmp/claude-0/-home-user-MemoireM2S2/bac073a6-7c4e-552a-9627-815aeb6fe82a/scratchpad/figs/p26-002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55080" y="3520440"/>
            <a:ext cx="5257800" cy="16002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" y="6236208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— Prix au m², brut puis log-transformé (asymétrie corrigée)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6355080" y="5193792"/>
            <a:ext cx="5257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— Intensité de vente : l'effet des taux apparaît une fois l'effet de portefeuille neutralisé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AXE 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risque de marge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3093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123 opérations suffisamment avancées : 28 % en dérive matérielle (&gt; 2 %)</a:t>
            </a:r>
            <a:endParaRPr lang="en-US" sz="1200" dirty="0"/>
          </a:p>
          <a:p>
            <a:pPr marL="203200" indent="-2032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Régression du taux de dérive : R² test = 0,08 → bascule en classification</a:t>
            </a:r>
            <a:endParaRPr lang="en-US" sz="1200" dirty="0"/>
          </a:p>
          <a:p>
            <a:pPr marL="203200" indent="-203200">
              <a:lnSpc>
                <a:spcPct val="106000"/>
              </a:lnSpc>
              <a:spcAft>
                <a:spcPts val="900"/>
              </a:spcAft>
              <a:buSzPct val="100000"/>
              <a:buChar char="•"/>
            </a:pPr>
            <a:r>
              <a:rPr lang="en-US" sz="12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ACP : 2 axes résument 61 % de la structure des coûts (vérifié par SVD) → typologie de 4 familles, comparateur d'opérations (ex. Le Parc des Cyclades)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013448" y="1618488"/>
            <a:ext cx="4672584" cy="1655064"/>
          </a:xfrm>
          <a:prstGeom prst="roundRect">
            <a:avLst>
              <a:gd name="adj" fmla="val 3315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6" name="Image 0" descr="/tmp/claude-0/-home-user-MemoireM2S2/bac073a6-7c4e-552a-9627-815aeb6fe82a/scratchpad/figs/p27-00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086600" y="1691640"/>
            <a:ext cx="4526280" cy="1508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086600" y="3227832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— Distribution de la variation de marge, seuil de dérive matérielle à −2 %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548640" y="3977640"/>
            <a:ext cx="11064240" cy="384048"/>
          </a:xfrm>
          <a:prstGeom prst="roundRect">
            <a:avLst>
              <a:gd name="adj" fmla="val 14286"/>
            </a:avLst>
          </a:prstGeom>
          <a:solidFill>
            <a:srgbClr val="1A1A19"/>
          </a:solidFill>
          <a:ln/>
        </p:spPr>
      </p:sp>
      <p:sp>
        <p:nvSpPr>
          <p:cNvPr id="9" name="Text 6"/>
          <p:cNvSpPr/>
          <p:nvPr/>
        </p:nvSpPr>
        <p:spPr>
          <a:xfrm>
            <a:off x="658368" y="3977640"/>
            <a:ext cx="108447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 de six méthodes en validation croisée — métrique F1</a:t>
            </a:r>
            <a:endParaRPr lang="en-US" sz="12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34840"/>
          <a:ext cx="11064240" cy="777240"/>
        </p:xfrm>
        <a:graphic>
          <a:graphicData uri="http://schemas.openxmlformats.org/drawingml/2006/table">
            <a:tbl>
              <a:tblPr/>
              <a:tblGrid>
                <a:gridCol w="1844040"/>
                <a:gridCol w="1844040"/>
                <a:gridCol w="1844040"/>
                <a:gridCol w="1844040"/>
                <a:gridCol w="1844040"/>
                <a:gridCol w="18440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Logistique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 linéaire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 RBF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Arbre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AF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Forêt (retenue)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MLP (train / CV)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BAF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0,913 / 0,262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548640" y="53035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MLP illustre le sur-apprentissage : F1 = 0,91 en apprentissage contre 0,26 en validation — la signature d'un petit échantillon.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548640" y="58521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réel mais faible — pas un oracle.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AXE 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vitesse d'écoulement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3093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6000"/>
              </a:lnSpc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3 230 observations (opération × mois) — modèle à effets aléatoires</a:t>
            </a:r>
            <a:endParaRPr lang="en-US" sz="1400" dirty="0"/>
          </a:p>
          <a:p>
            <a:pPr marL="203200" indent="-203200">
              <a:lnSpc>
                <a:spcPct val="106000"/>
              </a:lnSpc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2/3 de la variance = effet propre à l'opération, 1/3 = conjoncture</a:t>
            </a:r>
            <a:endParaRPr lang="en-US" sz="1400" dirty="0"/>
          </a:p>
          <a:p>
            <a:pPr marL="203200" indent="-203200">
              <a:lnSpc>
                <a:spcPct val="106000"/>
              </a:lnSpc>
              <a:spcAft>
                <a:spcPts val="1300"/>
              </a:spcAft>
              <a:buSzPct val="100000"/>
              <a:buChar char="•"/>
            </a:pPr>
            <a:r>
              <a:rPr lang="en-US" sz="14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 par série temporelle : effet du taux non identifiable isolément — validation méthodologique, pas un échec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013448" y="1618488"/>
            <a:ext cx="4672584" cy="1956816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6" name="Image 0" descr="/tmp/claude-0/-home-user-MemoireM2S2/bac073a6-7c4e-552a-9627-815aeb6fe82a/scratchpad/figs/p28-00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086600" y="1691640"/>
            <a:ext cx="4526280" cy="18105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086600" y="3529584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— Scénarios de taux 2026 : trajectoire ARIMA combinée à l'élasticité du panel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7086600" y="4251960"/>
            <a:ext cx="21488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196328" y="4325112"/>
            <a:ext cx="1929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−19 %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7196328" y="5230368"/>
            <a:ext cx="192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réservations par point de taux en plus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9464040" y="4251960"/>
            <a:ext cx="21488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9573768" y="4325112"/>
            <a:ext cx="1929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mois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9573768" y="5230368"/>
            <a:ext cx="1929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délai médian pour 90 % du potentiel vendu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48640" y="585216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Axe le plus solide du projet.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4A3A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AXE 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L'optimisation des prix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649224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6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hédonique sur 5 064 appartements vendus depuis 2016 — primes cohérentes (étage +6,0 %, sud +2,6 %, social −62,8 %, millésime +19-21 %)</a:t>
            </a:r>
            <a:endParaRPr lang="en-US" sz="1300" dirty="0"/>
          </a:p>
          <a:p>
            <a:pPr marL="203200" indent="-203200">
              <a:lnSpc>
                <a:spcPct val="106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Élasticité non significative en interne (p = 0,57) → fixée prudemment à −1, documentée plutôt que masquée</a:t>
            </a:r>
            <a:endParaRPr lang="en-US" sz="1300" dirty="0"/>
          </a:p>
          <a:p>
            <a:pPr marL="203200" indent="-203200">
              <a:lnSpc>
                <a:spcPct val="106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 par multiplicateur de Lagrange, vérifiée par un second solveur indépendant (SLSQP) — convergence à 0,006 près</a:t>
            </a:r>
            <a:endParaRPr lang="en-US" sz="1300" dirty="0"/>
          </a:p>
          <a:p>
            <a:pPr marL="203200" indent="-203200">
              <a:lnSpc>
                <a:spcPct val="106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 contre-intuitif : remise optimale identique en euros sur tous les lots — ex. Arpeggio (18 lots), ajustements de −5 % à −14 % selon le prix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0" y="1691640"/>
            <a:ext cx="42976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24928" y="1764792"/>
            <a:ext cx="4078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4A3A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R² = 0,886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424928" y="2624328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 du prix expliquée, erreur type ≈ 11 %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315200" y="3246120"/>
            <a:ext cx="42976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424928" y="3319272"/>
            <a:ext cx="4078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DA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 / 127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7424928" y="4178808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lots du stock signalés hors marché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315200" y="4800600"/>
            <a:ext cx="429768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424928" y="4873752"/>
            <a:ext cx="40782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0,006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7424928" y="5733288"/>
            <a:ext cx="4078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écart entre les deux solveurs d'optimisation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DA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AXE TRANSVERSE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Signaux faibles : texte et réseau de vente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658368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6000"/>
              </a:lnSpc>
              <a:spcAft>
                <a:spcPts val="1300"/>
              </a:spcAft>
              <a:buSzPct val="100000"/>
              <a:buChar char="•"/>
            </a:pPr>
            <a:r>
              <a:rPr lang="en-US" sz="13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9 688 commentaires libres de vente : moteur de recherche par similarité (TF-IDF + cosinus, corpus de 1 346 documents)</a:t>
            </a:r>
            <a:endParaRPr lang="en-US" sz="1300" dirty="0"/>
          </a:p>
          <a:p>
            <a:pPr marL="203200" indent="-203200">
              <a:lnSpc>
                <a:spcPct val="106000"/>
              </a:lnSpc>
              <a:spcAft>
                <a:spcPts val="1300"/>
              </a:spcAft>
              <a:buSzPct val="100000"/>
              <a:buChar char="•"/>
            </a:pPr>
            <a:r>
              <a:rPr lang="en-US" sz="13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Prédiction du désistement par le texte, fuite contrôlée (314 commentaires écartés) : Naive Bayes F1 = 0,343, préféré à une régression logistique quasi muette</a:t>
            </a:r>
            <a:endParaRPr lang="en-US" sz="1300" dirty="0"/>
          </a:p>
          <a:p>
            <a:pPr marL="203200" indent="-203200">
              <a:lnSpc>
                <a:spcPct val="106000"/>
              </a:lnSpc>
              <a:spcAft>
                <a:spcPts val="1300"/>
              </a:spcAft>
              <a:buSzPct val="100000"/>
              <a:buChar char="•"/>
            </a:pPr>
            <a:r>
              <a:rPr lang="en-US" sz="13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Divergence de Kullback-Leibler (écart entre distributions) : révèle un défaut de saisie sur une agence (90 % de motifs « autres »), pas un profil client</a:t>
            </a:r>
            <a:endParaRPr lang="en-US" sz="1300" dirty="0"/>
          </a:p>
          <a:p>
            <a:pPr marL="203200" indent="-203200">
              <a:lnSpc>
                <a:spcPct val="106000"/>
              </a:lnSpc>
              <a:spcAft>
                <a:spcPts val="1300"/>
              </a:spcAft>
              <a:buSzPct val="100000"/>
              <a:buChar char="•"/>
            </a:pPr>
            <a:r>
              <a:rPr lang="en-US" sz="13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biparti vendeurs-opérations (209 vendeurs, 711 arêtes) : deux pivots concentrent 51,6 % des dossiers, désistement très contrasté (9,0 % vs 29,6 %)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60920" y="1691640"/>
            <a:ext cx="4251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70648" y="1764792"/>
            <a:ext cx="4032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DA1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F1 = 0,343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7470648" y="262432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Bayes, désistement prédit par le texte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360920" y="3246120"/>
            <a:ext cx="4251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470648" y="3319272"/>
            <a:ext cx="4032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4A3AA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51,6 %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7470648" y="417880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 dossiers concentrés sur 2 vendeurs pivots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360920" y="4800600"/>
            <a:ext cx="42519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470648" y="4873752"/>
            <a:ext cx="4032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E349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9,0 % / 29,6 %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7470648" y="573328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désistement : pivot interne vs prescripteur externe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COPILOTE FINANCIER EN USAGE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plateforme : cinq pages pour la direction financière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4160520" cy="4754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lnSpc>
                <a:spcPct val="106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d'ensemble : 147 opérations, 421 lots en stock</a:t>
            </a:r>
            <a:endParaRPr lang="en-US" sz="1250" dirty="0"/>
          </a:p>
          <a:p>
            <a:pPr marL="203200" indent="-203200">
              <a:lnSpc>
                <a:spcPct val="106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 marge : 10 en alerte sur 68 suffisamment engagées</a:t>
            </a:r>
            <a:endParaRPr lang="en-US" sz="1250" dirty="0"/>
          </a:p>
          <a:p>
            <a:pPr marL="203200" indent="-203200">
              <a:lnSpc>
                <a:spcPct val="106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Rythme de vente : simulateur de taux 2026</a:t>
            </a:r>
            <a:endParaRPr lang="en-US" sz="1250" dirty="0"/>
          </a:p>
          <a:p>
            <a:pPr marL="203200" indent="-203200">
              <a:lnSpc>
                <a:spcPct val="106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Pilotage des prix : lots hors marché + grille ajustée</a:t>
            </a:r>
            <a:endParaRPr lang="en-US" sz="1250" dirty="0"/>
          </a:p>
          <a:p>
            <a:pPr marL="203200" indent="-203200">
              <a:lnSpc>
                <a:spcPct val="106000"/>
              </a:lnSpc>
              <a:spcAft>
                <a:spcPts val="1100"/>
              </a:spcAft>
              <a:buSzPct val="100000"/>
              <a:buChar char="•"/>
            </a:pPr>
            <a:r>
              <a:rPr lang="en-US" sz="125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 commerciale : alerte de saisie + recherche de dossiers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4864608" y="1481328"/>
            <a:ext cx="3529584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6" name="Image 0" descr="/tmp/claude-0/-home-user-MemoireM2S2/bac073a6-7c4e-552a-9627-815aeb6fe82a/scratchpad/figs/p31-00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937760" y="1554480"/>
            <a:ext cx="3383280" cy="206654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476488" y="1481328"/>
            <a:ext cx="3255264" cy="2414016"/>
          </a:xfrm>
          <a:prstGeom prst="roundRect">
            <a:avLst>
              <a:gd name="adj" fmla="val 2273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8" name="Image 1" descr="/tmp/claude-0/-home-user-MemoireM2S2/bac073a6-7c4e-552a-9627-815aeb6fe82a/scratchpad/figs/p31-001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549640" y="1554480"/>
            <a:ext cx="3108960" cy="226771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937760" y="37033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d'ensemble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8549640" y="3931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 marge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4937760" y="4160520"/>
            <a:ext cx="6720840" cy="1508760"/>
          </a:xfrm>
          <a:prstGeom prst="roundRect">
            <a:avLst>
              <a:gd name="adj" fmla="val 4848"/>
            </a:avLst>
          </a:prstGeom>
          <a:solidFill>
            <a:srgbClr val="F6F8FB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166360" y="4160520"/>
            <a:ext cx="63093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de conduite de projet : la première version parlait le vocabulaire des statistiques (F1, R²) — trop technique pour ses utilisateurs. Reconstruite en langage métier.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RÉFLEXION TRANSVERSALE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traducteur avant d'être un modélisateur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Traduire une gêne métier en question calculable, puis un résultat statistique en information sur laquelle décider. Le régime de preuve se déduit de la nature du livrable 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207008" y="2258568"/>
            <a:ext cx="9747504" cy="4059936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101600" dist="25400" dir="5400000">
              <a:srgbClr val="1A1A19">
                <a:alpha val="15000"/>
              </a:srgbClr>
            </a:outerShdw>
          </a:effectLst>
        </p:spPr>
      </p:sp>
      <p:pic>
        <p:nvPicPr>
          <p:cNvPr id="6" name="Image 0" descr="/tmp/claude-0/-home-user-MemoireM2S2/bac073a6-7c4e-552a-9627-815aeb6fe82a/scratchpad/figs/p35-00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280160" y="2331720"/>
            <a:ext cx="9601200" cy="39136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Projet professionnel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2044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92024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25146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Ingénierie des données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315468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Reprises, migrations, interfaces de programmation — la compétence sur laquelle j'ai le plus progressé.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97680" y="1691640"/>
            <a:ext cx="352044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1920240"/>
            <a:ext cx="457200" cy="45720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52628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26280" y="25146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Modélisation proportionnée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26280" y="315468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une méthode adaptée à la donnée réellement disponible, et la valider honnêtement.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1691640"/>
            <a:ext cx="352044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3E7EE"/>
            </a:solidFill>
            <a:prstDash val="solid"/>
          </a:ln>
          <a:effectLst>
            <a:outerShdw sx="100000" sy="100000" kx="0" ky="0" algn="bl" rotWithShape="0" blurRad="76200" dist="25400" dir="5400000">
              <a:srgbClr val="1A1A19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75320" y="1920240"/>
            <a:ext cx="457200" cy="457200"/>
          </a:xfrm>
          <a:prstGeom prst="ellipse">
            <a:avLst/>
          </a:prstGeom>
          <a:solidFill>
            <a:srgbClr val="4A3AA7"/>
          </a:solidFill>
          <a:ln/>
        </p:spPr>
      </p:sp>
      <p:sp>
        <p:nvSpPr>
          <p:cNvPr id="16" name="Text 14"/>
          <p:cNvSpPr/>
          <p:nvPr/>
        </p:nvSpPr>
        <p:spPr>
          <a:xfrm>
            <a:off x="82753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275320" y="251460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Dialogue avec les métiers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75320" y="3154680"/>
            <a:ext cx="3063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Traduire un besoin en spécification, puis un résultat en écran.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470916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A1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Cible à court terme : ingénieure données orientée aide à la décision — ou une direction data structurée.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Copilote Financier — Groupe Angelotti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430000" y="651052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A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722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97280" y="1965960"/>
            <a:ext cx="9966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Structurer une donnée et la modéliser ne sont pas deux métiers séparés.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737360" y="306324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sont deux moments du même travail — et c'est le premier qui décide de ce que le second peut en tirer.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1097280" y="4937760"/>
            <a:ext cx="9966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de votre attention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97280" y="548640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B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suis prête à répondre à vos questions.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2026-08-24T13:20:18Z</dcterms:created>
  <dcterms:modified xsi:type="dcterms:W3CDTF">2026-08-24T13:20:18Z</dcterms:modified>
</cp:coreProperties>
</file>